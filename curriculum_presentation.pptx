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457200"/>
            <a:ext cx="2286000" cy="2286000"/>
          </a:xfrm>
          <a:prstGeom prst="ellipse">
            <a:avLst/>
          </a:prstGeom>
          <a:solidFill>
            <a:srgbClr val="5B21B6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2743200" cy="2743200"/>
          </a:xfrm>
          <a:prstGeom prst="ellipse">
            <a:avLst/>
          </a:prstGeom>
          <a:solidFill>
            <a:srgbClr val="5B21B6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5486400"/>
            <a:ext cx="1371600" cy="1371600"/>
          </a:xfrm>
          <a:prstGeom prst="ellipse">
            <a:avLst/>
          </a:prstGeom>
          <a:solidFill>
            <a:srgbClr val="5B21B6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eiryo"/>
              </a:defRPr>
            </a:pPr>
            <a:r>
              <a:t>EdBrio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Meiryo"/>
              </a:defRPr>
            </a:pPr>
            <a:r>
              <a:t>カリキュラムシステム 開発ガイド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840480"/>
            <a:ext cx="210312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eiryo"/>
              </a:defRPr>
            </a:pPr>
            <a:r>
              <a:t>新メンバー オンボーディング資料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eiryo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Meiryo"/>
              </a:defRPr>
            </a:pPr>
            <a:r>
              <a:t>アジェンダ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全体概要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eiryo"/>
              </a:defRPr>
            </a:pPr>
            <a:r>
              <a:t>EdBrioとは何か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48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カリキュラムシステムの位置づけ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eiryo"/>
              </a:defRPr>
            </a:pPr>
            <a:r>
              <a:t>他機能との関係性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346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開発環境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eiryo"/>
              </a:defRPr>
            </a:pPr>
            <a:r>
              <a:t>技術スタック・アーキテクチャ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20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実装済み機能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eiryo"/>
              </a:defRPr>
            </a:pPr>
            <a:r>
              <a:t>データモデル・コンポーネント構成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改善点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eiryo"/>
              </a:defRPr>
            </a:pPr>
            <a:r>
              <a:t>今後実装すべき機能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892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今後のスケジュール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eiryo"/>
              </a:defRPr>
            </a:pPr>
            <a:r>
              <a:t>開発マイルストーン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77840"/>
            <a:ext cx="50292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577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報酬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62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Meiryo"/>
              </a:defRPr>
            </a:pPr>
            <a:r>
              <a:t>報酬体系について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eiryo"/>
              </a:defRPr>
            </a:pPr>
            <a:r>
              <a:t>全体概要 — EdBrioとは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27432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A1A2E"/>
                </a:solidFill>
                <a:latin typeface="Meiryo"/>
              </a:defRPr>
            </a:pPr>
            <a:r>
              <a:t>EdBrioは、教育者と学習者をつなぐ教育プラットフォームです。</a:t>
            </a:r>
          </a:p>
          <a:p>
            <a:pPr>
              <a:spcAft>
                <a:spcPts val="1600"/>
              </a:spcAft>
              <a:defRPr sz="2000">
                <a:solidFill>
                  <a:srgbClr val="1A1A2E"/>
                </a:solidFill>
                <a:latin typeface="Meiryo"/>
              </a:defRPr>
            </a:pPr>
            <a:r>
              <a:t>講師が生徒の学習を効率的に管理し、保護者と円滑にコミュニケーションできる環境を提供します。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C3AED"/>
                </a:solidFill>
                <a:latin typeface="Meiryo"/>
              </a:defRPr>
            </a:pPr>
            <a:r>
              <a:t>ターゲットセグメント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029200" cy="2286000"/>
          </a:xfrm>
          <a:prstGeom prst="round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21B6"/>
                </a:solidFill>
                <a:latin typeface="Meiryo"/>
              </a:defRPr>
            </a:pPr>
            <a:r>
              <a:t>🏠  家庭教師向け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1A1A2E"/>
                </a:solidFill>
                <a:latin typeface="Meiryo"/>
              </a:defRPr>
            </a:pPr>
            <a:r>
              <a:t>・個人で活動する英語講師</a:t>
            </a:r>
          </a:p>
          <a:p>
            <a:pPr>
              <a:spcAft>
                <a:spcPts val="960"/>
              </a:spcAft>
              <a:defRPr sz="1600">
                <a:solidFill>
                  <a:srgbClr val="1A1A2E"/>
                </a:solidFill>
                <a:latin typeface="Meiryo"/>
              </a:defRPr>
            </a:pPr>
            <a:r>
              <a:t>・生徒管理・スケジュール管理</a:t>
            </a:r>
          </a:p>
          <a:p>
            <a:pPr>
              <a:spcAft>
                <a:spcPts val="960"/>
              </a:spcAft>
              <a:defRPr sz="1600">
                <a:solidFill>
                  <a:srgbClr val="1A1A2E"/>
                </a:solidFill>
                <a:latin typeface="Meiryo"/>
              </a:defRPr>
            </a:pPr>
            <a:r>
              <a:t>・保護者へのレポート送信</a:t>
            </a:r>
          </a:p>
          <a:p>
            <a:pPr>
              <a:spcAft>
                <a:spcPts val="960"/>
              </a:spcAft>
              <a:defRPr sz="1600">
                <a:solidFill>
                  <a:srgbClr val="1A1A2E"/>
                </a:solidFill>
                <a:latin typeface="Meiryo"/>
              </a:defRPr>
            </a:pPr>
            <a:r>
              <a:t>・オンライン決済（Stripe）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029200" cy="2286000"/>
          </a:xfrm>
          <a:prstGeom prst="round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023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21B6"/>
                </a:solidFill>
                <a:latin typeface="Meiryo"/>
              </a:defRPr>
            </a:pPr>
            <a:r>
              <a:t>🏫  個別指導教室向け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5720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1A1A2E"/>
                </a:solidFill>
                <a:latin typeface="Meiryo"/>
              </a:defRPr>
            </a:pPr>
            <a:r>
              <a:t>・複数講師の管理</a:t>
            </a:r>
          </a:p>
          <a:p>
            <a:pPr>
              <a:spcAft>
                <a:spcPts val="960"/>
              </a:spcAft>
              <a:defRPr sz="1600">
                <a:solidFill>
                  <a:srgbClr val="1A1A2E"/>
                </a:solidFill>
                <a:latin typeface="Meiryo"/>
              </a:defRPr>
            </a:pPr>
            <a:r>
              <a:t>・教室単位での生徒管理</a:t>
            </a:r>
          </a:p>
          <a:p>
            <a:pPr>
              <a:spcAft>
                <a:spcPts val="960"/>
              </a:spcAft>
              <a:defRPr sz="1600">
                <a:solidFill>
                  <a:srgbClr val="1A1A2E"/>
                </a:solidFill>
                <a:latin typeface="Meiryo"/>
              </a:defRPr>
            </a:pPr>
            <a:r>
              <a:t>・カリキュラムの標準化</a:t>
            </a:r>
          </a:p>
          <a:p>
            <a:pPr>
              <a:spcAft>
                <a:spcPts val="960"/>
              </a:spcAft>
              <a:defRPr sz="1600">
                <a:solidFill>
                  <a:srgbClr val="1A1A2E"/>
                </a:solidFill>
                <a:latin typeface="Meiryo"/>
              </a:defRPr>
            </a:pPr>
            <a:r>
              <a:t>・今後展開予定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eiryo"/>
              </a:defRPr>
            </a:pPr>
            <a:r>
              <a:t>全体概要 — 主要機能一覧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27432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3291840" cy="73152"/>
          </a:xfrm>
          <a:prstGeom prst="rect">
            <a:avLst/>
          </a:prstGeom>
          <a:solidFill>
            <a:srgbClr val="386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6BF6"/>
                </a:solidFill>
                <a:latin typeface="Meiryo"/>
              </a:defRPr>
            </a:pPr>
            <a:r>
              <a:t>📅 予約管理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生徒がカレンダーから</a:t>
            </a:r>
          </a:p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授業を予約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79" y="169164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eiryo"/>
              </a:defRPr>
            </a:pPr>
            <a:r>
              <a:t>💬 チャット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468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講師↔保護者の</a:t>
            </a:r>
          </a:p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リアルタイムメッセージ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9164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20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Meiryo"/>
              </a:defRPr>
            </a:pPr>
            <a:r>
              <a:t>📝 レポート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AIを活用した</a:t>
            </a:r>
          </a:p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授業レポート自動生成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160520"/>
            <a:ext cx="329184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eiryo"/>
              </a:defRPr>
            </a:pPr>
            <a:r>
              <a:t>🎫 チケット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授業回数券の</a:t>
            </a:r>
          </a:p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購入・管理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1148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79" y="4160520"/>
            <a:ext cx="32918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Meiryo"/>
              </a:defRPr>
            </a:pPr>
            <a:r>
              <a:t>📚 カリキュラム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生徒ごとの学習計画</a:t>
            </a:r>
          </a:p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目標・進捗管理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11480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4160520"/>
            <a:ext cx="3291840" cy="731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389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748B"/>
                </a:solidFill>
                <a:latin typeface="Meiryo"/>
              </a:defRPr>
            </a:pPr>
            <a:r>
              <a:t>💳 決済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Stripe Connectによる</a:t>
            </a:r>
          </a:p>
          <a:p>
            <a:pPr>
              <a:spcAft>
                <a:spcPts val="750"/>
              </a:spcAft>
              <a:defRPr sz="1500">
                <a:solidFill>
                  <a:srgbClr val="6B7280"/>
                </a:solidFill>
                <a:latin typeface="Meiryo"/>
              </a:defRPr>
            </a:pPr>
            <a:r>
              <a:t>オンライン決済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eiryo"/>
              </a:defRPr>
            </a:pPr>
            <a:r>
              <a:t>カリキュラムシステムの位置づけ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27432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A1A2E"/>
                </a:solidFill>
                <a:latin typeface="Meiryo"/>
              </a:defRPr>
            </a:pPr>
            <a:r>
              <a:t>カリキュラムシステムは他の機能とは独立して動作します。</a:t>
            </a:r>
          </a:p>
          <a:p>
            <a:pPr>
              <a:spcAft>
                <a:spcPts val="1600"/>
              </a:spcAft>
              <a:defRPr sz="2000">
                <a:solidFill>
                  <a:srgbClr val="1A1A2E"/>
                </a:solidFill>
                <a:latin typeface="Meiryo"/>
              </a:defRPr>
            </a:pPr>
            <a:r>
              <a:t>講師が生徒ごとに学習計画を作成・管理する機能です。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926080"/>
            <a:ext cx="274320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eiryo"/>
              </a:defRPr>
            </a:pPr>
            <a:r>
              <a:t>カリキュラム</a:t>
            </a:r>
            <a:br/>
            <a:r>
              <a:t>システム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22860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Meiryo"/>
              </a:defRPr>
            </a:pPr>
            <a:r>
              <a:t>予約管理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389120"/>
            <a:ext cx="22860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Meiryo"/>
              </a:defRPr>
            </a:pPr>
            <a:r>
              <a:t>チャット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743200"/>
            <a:ext cx="22860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Meiryo"/>
              </a:defRPr>
            </a:pPr>
            <a:r>
              <a:t>レポート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389120"/>
            <a:ext cx="2286000" cy="8229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Meiryo"/>
              </a:defRPr>
            </a:pPr>
            <a:r>
              <a:t>チケット / 決済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eiryo"/>
              </a:defRPr>
            </a:pPr>
            <a:r>
              <a:t>ポイント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1A1A2E"/>
                </a:solidFill>
                <a:latin typeface="Meiryo"/>
              </a:defRPr>
            </a:pPr>
            <a:r>
              <a:t>✓ 講師のみが管理（保護者は閲覧しない）</a:t>
            </a:r>
          </a:p>
          <a:p>
            <a:pPr>
              <a:spcAft>
                <a:spcPts val="960"/>
              </a:spcAft>
              <a:defRPr sz="1600">
                <a:solidFill>
                  <a:srgbClr val="1A1A2E"/>
                </a:solidFill>
                <a:latin typeface="Meiryo"/>
              </a:defRPr>
            </a:pPr>
            <a:r>
              <a:t>✓ Standardプラン以上で利用可能（プランゲート付き）</a:t>
            </a:r>
          </a:p>
          <a:p>
            <a:pPr>
              <a:spcAft>
                <a:spcPts val="960"/>
              </a:spcAft>
              <a:defRPr sz="1600">
                <a:solidFill>
                  <a:srgbClr val="1A1A2E"/>
                </a:solidFill>
                <a:latin typeface="Meiryo"/>
              </a:defRPr>
            </a:pPr>
            <a:r>
              <a:t>✓ 現時点では他機能との連携なし（将来的に連携の可能性あり）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eiryo"/>
              </a:defRPr>
            </a:pPr>
            <a:r>
              <a:t>開発環境 — アーキテクチャ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27432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eiryo"/>
              </a:defRPr>
            </a:pPr>
            <a:r>
              <a:t>システム構成図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926080" cy="1828800"/>
          </a:xfrm>
          <a:prstGeom prst="roundRect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GitHub</a:t>
            </a:r>
            <a:br/>
            <a:r>
              <a:t>ソースコード管理</a:t>
            </a:r>
            <a:br/>
            <a:r>
              <a:t>バージョン管理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0480" y="3200400"/>
            <a:ext cx="914400" cy="45720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eiryo"/>
              </a:defRPr>
            </a:pPr>
            <a:r>
              <a:t>auto deploy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560320"/>
            <a:ext cx="292608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Vercel</a:t>
            </a:r>
            <a:br/>
            <a:r>
              <a:t>Next.js ホスティング</a:t>
            </a:r>
            <a:br/>
            <a:r>
              <a:t>フロントエンド + API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46720" y="3200400"/>
            <a:ext cx="914400" cy="4572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eiryo"/>
              </a:defRPr>
            </a:pPr>
            <a:r>
              <a:t>API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560320"/>
            <a:ext cx="292608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eiryo"/>
              </a:defRPr>
            </a:pPr>
            <a:r>
              <a:t>Supabase</a:t>
            </a:r>
            <a:br/>
            <a:r>
              <a:t>PostgreSQL データベース</a:t>
            </a:r>
            <a:br/>
            <a:r>
              <a:t>認証 + RLS + Storage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2926080" cy="1371600"/>
          </a:xfrm>
          <a:prstGeom prst="round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21B6"/>
                </a:solidFill>
                <a:latin typeface="Meiryo"/>
              </a:defRPr>
            </a:pPr>
            <a:r>
              <a:t>👨‍💻 開発者（あなた）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5778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Meiryo"/>
              </a:defRPr>
            </a:pPr>
            <a:r>
              <a:t>ローカル開発環境</a:t>
            </a:r>
          </a:p>
          <a:p>
            <a:pPr>
              <a:spcAft>
                <a:spcPts val="700"/>
              </a:spcAft>
              <a:defRPr sz="1400">
                <a:solidFill>
                  <a:srgbClr val="1A1A2E"/>
                </a:solidFill>
                <a:latin typeface="Meiryo"/>
              </a:defRPr>
            </a:pPr>
            <a:r>
              <a:t>git push → 自動デプロイ</a:t>
            </a:r>
          </a:p>
        </p:txBody>
      </p:sp>
      <p:sp>
        <p:nvSpPr>
          <p:cNvPr id="17" name="Up Arrow 16"/>
          <p:cNvSpPr/>
          <p:nvPr/>
        </p:nvSpPr>
        <p:spPr>
          <a:xfrm>
            <a:off x="1920240" y="4572000"/>
            <a:ext cx="457200" cy="457200"/>
          </a:xfrm>
          <a:prstGeom prst="upArrow">
            <a:avLst/>
          </a:prstGeom>
          <a:solidFill>
            <a:srgbClr val="242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eiryo"/>
              </a:defRPr>
            </a:pPr>
            <a:r>
              <a:t>git push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eiryo"/>
              </a:defRPr>
            </a:pPr>
            <a:r>
              <a:t>開発環境 — 技術スタック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27432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91440" cy="2103120"/>
          </a:xfrm>
          <a:prstGeom prst="rect">
            <a:avLst/>
          </a:prstGeom>
          <a:solidFill>
            <a:srgbClr val="386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6BF6"/>
                </a:solidFill>
                <a:latin typeface="Meiryo"/>
              </a:defRPr>
            </a:pPr>
            <a:r>
              <a:t>フロントエンド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・Next.js 15 (App Router)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・TypeScript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・Tailwind CSS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・shadcn/ui コンポーネント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91440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eiryo"/>
              </a:defRPr>
            </a:pPr>
            <a:r>
              <a:t>バックエンド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945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・Supabase (PostgreSQL 17)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・Row Level Security (RLS)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・Supabase Auth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・API Routes (Next.js)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91440" cy="2103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eiryo"/>
              </a:defRPr>
            </a:pPr>
            <a:r>
              <a:t>インフラ・ツール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63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・Vercel (ホスティング)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・GitHub (ソース管理)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・Stripe Connect (決済)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・Anthropic Claude API (AI)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114800"/>
            <a:ext cx="91440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Meiryo"/>
              </a:defRPr>
            </a:pPr>
            <a:r>
              <a:t>開発ツール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663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・pnpm (パッケージマネージャ)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・Playwright (E2Eテスト)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・next-intl (14言語対応)</a:t>
            </a:r>
          </a:p>
          <a:p>
            <a:pPr>
              <a:spcAft>
                <a:spcPts val="75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・ESLint + TypeScript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eiryo"/>
              </a:defRPr>
            </a:pPr>
            <a:r>
              <a:t>実装済み機能 — データモデル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27432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eiryo"/>
              </a:defRPr>
            </a:pPr>
            <a:r>
              <a:t>カリキュラム関連テーブル（全7テーブル）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377440"/>
            <a:ext cx="3931920" cy="1463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eiryo"/>
              </a:defRPr>
            </a:pPr>
            <a:r>
              <a:t>student_profiles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8346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E0D0FF"/>
                </a:solidFill>
                <a:latin typeface="Meiryo"/>
              </a:defRPr>
            </a:pPr>
            <a:r>
              <a:t>name, grade, school, notes,</a:t>
            </a:r>
          </a:p>
          <a:p>
            <a:pPr>
              <a:spcAft>
                <a:spcPts val="390"/>
              </a:spcAft>
              <a:defRPr sz="1300">
                <a:solidFill>
                  <a:srgbClr val="E0D0FF"/>
                </a:solidFill>
                <a:latin typeface="Meiryo"/>
              </a:defRPr>
            </a:pPr>
            <a:r>
              <a:t>native_language, teacher_id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389120"/>
            <a:ext cx="246888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student_goals</a:t>
            </a:r>
            <a:br/>
            <a:r>
              <a:t>goal, profile_id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389120"/>
            <a:ext cx="2468880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student_weak_points</a:t>
            </a:r>
            <a:br/>
            <a:r>
              <a:t>weak_point, profile_id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4389120"/>
            <a:ext cx="2468880" cy="1097280"/>
          </a:xfrm>
          <a:prstGeom prst="roundRect">
            <a:avLst/>
          </a:prstGeom>
          <a:solidFill>
            <a:srgbClr val="386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student_strengths</a:t>
            </a:r>
            <a:br/>
            <a:r>
              <a:t>strength, profile_id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389120"/>
            <a:ext cx="2468880" cy="10972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handover_notes</a:t>
            </a:r>
            <a:br/>
            <a:r>
              <a:t>content, profile_id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852160"/>
            <a:ext cx="3200400" cy="82296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curriculum_units</a:t>
            </a:r>
            <a:br/>
            <a:r>
              <a:t>title, description, target_skills, status,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852160"/>
            <a:ext cx="320040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skill_assessments</a:t>
            </a:r>
            <a:br/>
            <a:r>
              <a:t>skill_name, level(1-5), assessed_at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840480"/>
            <a:ext cx="27432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3840480"/>
            <a:ext cx="27432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3840480"/>
            <a:ext cx="27432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0" y="3840480"/>
            <a:ext cx="27432" cy="5486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eiryo"/>
              </a:defRPr>
            </a:pPr>
            <a:r>
              <a:t>1 : 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eiryo"/>
              </a:defRPr>
            </a:pPr>
            <a:r>
              <a:t>実装済み機能 — コンポーネント構成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27432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eiryo"/>
              </a:defRPr>
            </a:pPr>
            <a:r>
              <a:t>ファイル構成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303520" cy="2011680"/>
          </a:xfrm>
          <a:prstGeom prst="round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21B6"/>
                </a:solidFill>
                <a:latin typeface="Meiryo"/>
              </a:defRPr>
            </a:pPr>
            <a:r>
              <a:t>📁 Hooks（データ取得・操作）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>
                <a:solidFill>
                  <a:srgbClr val="1A1A2E"/>
                </a:solidFill>
                <a:latin typeface="Meiryo"/>
              </a:defRPr>
            </a:pPr>
            <a:r>
              <a:t>use-student-profiles.ts</a:t>
            </a:r>
          </a:p>
          <a:p>
            <a:pPr>
              <a:spcAft>
                <a:spcPts val="559"/>
              </a:spcAft>
              <a:defRPr sz="1400">
                <a:solidFill>
                  <a:srgbClr val="1A1A2E"/>
                </a:solidFill>
                <a:latin typeface="Meiryo"/>
              </a:defRPr>
            </a:pPr>
            <a:r>
              <a:t>  → CRUD: 取得 / 作成 / 更新 / 削除</a:t>
            </a:r>
          </a:p>
          <a:p>
            <a:pPr>
              <a:spcAft>
                <a:spcPts val="559"/>
              </a:spcAft>
              <a:defRPr sz="1400">
                <a:solidFill>
                  <a:srgbClr val="1A1A2E"/>
                </a:solidFill>
                <a:latin typeface="Meiryo"/>
              </a:defRPr>
            </a:pPr>
            <a:r>
              <a:t>use-student-curriculum.ts</a:t>
            </a:r>
          </a:p>
          <a:p>
            <a:pPr>
              <a:spcAft>
                <a:spcPts val="559"/>
              </a:spcAft>
              <a:defRPr sz="1400">
                <a:solidFill>
                  <a:srgbClr val="1A1A2E"/>
                </a:solidFill>
                <a:latin typeface="Meiryo"/>
              </a:defRPr>
            </a:pPr>
            <a:r>
              <a:t>  → 目標 / ユニット / スキル評価の管理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03520" cy="2011680"/>
          </a:xfrm>
          <a:prstGeom prst="round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21B6"/>
                </a:solidFill>
                <a:latin typeface="Meiryo"/>
              </a:defRPr>
            </a:pPr>
            <a:r>
              <a:t>📁 Pages（画面）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346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>
                <a:solidFill>
                  <a:srgbClr val="1A1A2E"/>
                </a:solidFill>
                <a:latin typeface="Meiryo"/>
              </a:defRPr>
            </a:pPr>
            <a:r>
              <a:t>curriculum/page.tsx</a:t>
            </a:r>
          </a:p>
          <a:p>
            <a:pPr>
              <a:spcAft>
                <a:spcPts val="559"/>
              </a:spcAft>
              <a:defRPr sz="1400">
                <a:solidFill>
                  <a:srgbClr val="1A1A2E"/>
                </a:solidFill>
                <a:latin typeface="Meiryo"/>
              </a:defRPr>
            </a:pPr>
            <a:r>
              <a:t>  → 生徒プロフィール一覧（プランゲート付き）</a:t>
            </a:r>
          </a:p>
          <a:p>
            <a:pPr>
              <a:spcAft>
                <a:spcPts val="559"/>
              </a:spcAft>
              <a:defRPr sz="1400">
                <a:solidFill>
                  <a:srgbClr val="1A1A2E"/>
                </a:solidFill>
                <a:latin typeface="Meiryo"/>
              </a:defRPr>
            </a:pPr>
            <a:r>
              <a:t>curriculum/[profileId]/page.tsx</a:t>
            </a:r>
          </a:p>
          <a:p>
            <a:pPr>
              <a:spcAft>
                <a:spcPts val="559"/>
              </a:spcAft>
              <a:defRPr sz="1400">
                <a:solidFill>
                  <a:srgbClr val="1A1A2E"/>
                </a:solidFill>
                <a:latin typeface="Meiryo"/>
              </a:defRPr>
            </a:pPr>
            <a:r>
              <a:t>  → プロフィール詳細（タブ切替）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21B6"/>
                </a:solidFill>
                <a:latin typeface="Meiryo"/>
              </a:defRPr>
            </a:pPr>
            <a:r>
              <a:t>📁 Components（UIパーツ）— 11ファイル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eiryo"/>
              </a:defRPr>
            </a:pPr>
            <a:r>
              <a:t>• student-card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生徒カード表示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eiryo"/>
              </a:defRPr>
            </a:pPr>
            <a:r>
              <a:t>• curriculum-profile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プロフィール表示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eiryo"/>
              </a:defRPr>
            </a:pPr>
            <a:r>
              <a:t>• unit-list / unit-form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440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ユニット一覧・作成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eiryo"/>
              </a:defRPr>
            </a:pPr>
            <a:r>
              <a:t>• goal-list / goal-form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5440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目標一覧・作成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eiryo"/>
              </a:defRPr>
            </a:pPr>
            <a:r>
              <a:t>• skill-list / skill-form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85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スキル一覧・評価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852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eiryo"/>
              </a:defRPr>
            </a:pPr>
            <a:r>
              <a:t>• handover-note-list / 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85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引継ぎノート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63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eiryo"/>
              </a:defRPr>
            </a:pPr>
            <a:r>
              <a:t>• plan-gate-curriculum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6263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eiryo"/>
              </a:defRPr>
            </a:pPr>
            <a:r>
              <a:t>プランゲート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eiryo"/>
              </a:defRPr>
            </a:pPr>
            <a:r>
              <a:t>実装済み機能 — 画面フロー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27432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0116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011680" cy="2560320"/>
          </a:xfrm>
          <a:prstGeom prst="roundRect">
            <a:avLst/>
          </a:prstGeom>
          <a:noFill/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64008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Meiryo"/>
              </a:defRPr>
            </a:pPr>
            <a:r>
              <a:t>ログイン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講師アカウントで</a:t>
            </a:r>
          </a:p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ログイン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14600" y="310896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011680"/>
            <a:ext cx="20116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2011680"/>
            <a:ext cx="2011680" cy="2560320"/>
          </a:xfrm>
          <a:prstGeom prst="round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219456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Meiryo"/>
              </a:defRPr>
            </a:pPr>
            <a:r>
              <a:t>プラン確認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Standardプラン</a:t>
            </a:r>
          </a:p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以上が必要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92040" y="310896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2080" y="2011680"/>
            <a:ext cx="20116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12080" y="2011680"/>
            <a:ext cx="2011680" cy="2560320"/>
          </a:xfrm>
          <a:prstGeom prst="roundRect">
            <a:avLst/>
          </a:prstGeom>
          <a:noFill/>
          <a:ln w="25400">
            <a:solidFill>
              <a:srgbClr val="386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52160" y="2194560"/>
            <a:ext cx="640080" cy="640080"/>
          </a:xfrm>
          <a:prstGeom prst="roundRect">
            <a:avLst/>
          </a:prstGeom>
          <a:solidFill>
            <a:srgbClr val="386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6BF6"/>
                </a:solidFill>
                <a:latin typeface="Meiryo"/>
              </a:defRPr>
            </a:pPr>
            <a:r>
              <a:t>生徒一覧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プロフィール</a:t>
            </a:r>
          </a:p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一覧表示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69480" y="310896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20" y="2011680"/>
            <a:ext cx="20116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89520" y="2011680"/>
            <a:ext cx="2011680" cy="2560320"/>
          </a:xfrm>
          <a:prstGeom prst="round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2194560"/>
            <a:ext cx="6400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eiryo"/>
              </a:defRPr>
            </a:pPr>
            <a:r>
              <a:t>生徒詳細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タブで情報切替</a:t>
            </a:r>
          </a:p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(プロフィール/ユニット)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46920" y="310896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66960" y="2011680"/>
            <a:ext cx="20116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66960" y="2011680"/>
            <a:ext cx="2011680" cy="2560320"/>
          </a:xfrm>
          <a:prstGeom prst="roundRect">
            <a:avLst/>
          </a:prstGeom>
          <a:noFill/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607040" y="2194560"/>
            <a:ext cx="640080" cy="6400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Meiryo"/>
              </a:defRPr>
            </a:pPr>
            <a:r>
              <a:t>編集・管理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目標/ユニット/</a:t>
            </a:r>
          </a:p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スキル評価を管理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eiryo"/>
              </a:defRPr>
            </a:pPr>
            <a:r>
              <a:t>技術的ポイント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86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✓ プランゲート: Standardプラン未満の場合、アップグレード案内を表示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✓ リアルタイム: Supabase のリアルタイム機能でデータ更新を即座に反映</a:t>
            </a:r>
          </a:p>
          <a:p>
            <a:pPr>
              <a:spcAft>
                <a:spcPts val="900"/>
              </a:spcAft>
              <a:defRPr sz="1500">
                <a:solidFill>
                  <a:srgbClr val="1A1A2E"/>
                </a:solidFill>
                <a:latin typeface="Meiryo"/>
              </a:defRPr>
            </a:pPr>
            <a:r>
              <a:t>✓ RLS: Row Level Security により、講師は自分の生徒データのみアクセス可能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eiryo"/>
              </a:defRPr>
            </a:pPr>
            <a:r>
              <a:t>改善点 — 今後実装すべき機能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27432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73152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優先: 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Meiryo"/>
              </a:defRPr>
            </a:pPr>
            <a:r>
              <a:t>弱点（Weak Points）UI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DBテーブルは存在するがUIコンポーネントが未実装。</a:t>
            </a:r>
          </a:p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生徒の弱点を登録・表示する画面を作成。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1783080"/>
            <a:ext cx="73152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優先: 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Meiryo"/>
              </a:defRPr>
            </a:pPr>
            <a:r>
              <a:t>強み（Strengths）UI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DBテーブルは存在するがUIコンポーネントが未実装。</a:t>
            </a:r>
          </a:p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生徒の強みを登録・表示する画面を作成。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429000"/>
            <a:ext cx="7315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優先: 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Meiryo"/>
              </a:defRPr>
            </a:pPr>
            <a:r>
              <a:t>進捗ダッシュボード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カリキュラム全体の進捗状況を可視化。</a:t>
            </a:r>
          </a:p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スキル評価の推移グラフなど。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291840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37960" y="3429000"/>
            <a:ext cx="7315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優先: 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Meiryo"/>
              </a:defRPr>
            </a:pPr>
            <a:r>
              <a:t>ユニット並び替え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886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ドラッグ&amp;ドロップでカリキュラムユニットの</a:t>
            </a:r>
          </a:p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順序を変更できるようにする。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37760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5074920"/>
            <a:ext cx="7315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優先: 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074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Meiryo"/>
              </a:defRPr>
            </a:pPr>
            <a:r>
              <a:t>検索・フィルター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32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プロフィール一覧で生徒名や学年で</a:t>
            </a:r>
          </a:p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検索・絞り込みができるようにする。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37760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37960" y="5074920"/>
            <a:ext cx="7315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優先: 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074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Meiryo"/>
              </a:defRPr>
            </a:pPr>
            <a:r>
              <a:t>データエクスポート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532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カリキュラムデータをCSV/PDFで</a:t>
            </a:r>
          </a:p>
          <a:p>
            <a:pPr>
              <a:spcAft>
                <a:spcPts val="519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エクスポートする機能。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eiryo"/>
              </a:defRPr>
            </a:pPr>
            <a:r>
              <a:t>今後のスケジュール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27432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A1A2E"/>
                </a:solidFill>
                <a:latin typeface="Meiryo"/>
              </a:defRPr>
            </a:pPr>
            <a:r>
              <a:t>GW（ゴールデンウィーク）期間中に集中的に開発を進めます。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5603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2560320" cy="3474720"/>
          </a:xfrm>
          <a:prstGeom prst="roundRect">
            <a:avLst/>
          </a:prstGeom>
          <a:noFill/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880360"/>
            <a:ext cx="109728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環境構築・理解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開発環境のセットアップ</a:t>
            </a:r>
          </a:p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コードベースの理解</a:t>
            </a:r>
          </a:p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Supabase/Vercel/GitHub接続確認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7560" y="4206240"/>
            <a:ext cx="22860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743200"/>
            <a:ext cx="25603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743200"/>
            <a:ext cx="2560320" cy="3474720"/>
          </a:xfrm>
          <a:prstGeom prst="roundRect">
            <a:avLst/>
          </a:prstGeom>
          <a:noFill/>
          <a:ln w="25400">
            <a:solidFill>
              <a:srgbClr val="386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03320" y="2880360"/>
            <a:ext cx="1097280" cy="365760"/>
          </a:xfrm>
          <a:prstGeom prst="roundRect">
            <a:avLst/>
          </a:prstGeom>
          <a:solidFill>
            <a:srgbClr val="386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UI実装（弱点・強み）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8404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weak_points UIコンポーネント</a:t>
            </a:r>
          </a:p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strengths UIコンポーネント</a:t>
            </a:r>
          </a:p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既存パターンに合わせた実装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72200" y="4206240"/>
            <a:ext cx="22860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2743200"/>
            <a:ext cx="25603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743200"/>
            <a:ext cx="2560320" cy="3474720"/>
          </a:xfrm>
          <a:prstGeom prst="roundRect">
            <a:avLst/>
          </a:prstGeom>
          <a:noFill/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2880360"/>
            <a:ext cx="109728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機能追加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8404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進捗ダッシュボード</a:t>
            </a:r>
          </a:p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検索・フィルター</a:t>
            </a:r>
          </a:p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ユニット並び替え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006840" y="4206240"/>
            <a:ext cx="22860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5440" y="2743200"/>
            <a:ext cx="25603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35440" y="2743200"/>
            <a:ext cx="2560320" cy="3474720"/>
          </a:xfrm>
          <a:prstGeom prst="roundRect">
            <a:avLst/>
          </a:prstGeom>
          <a:noFill/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72600" y="2880360"/>
            <a:ext cx="109728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Phase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テスト・改善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8404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テスト実施</a:t>
            </a:r>
          </a:p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バグ修正</a:t>
            </a:r>
          </a:p>
          <a:p>
            <a:pPr>
              <a:spcAft>
                <a:spcPts val="650"/>
              </a:spcAft>
              <a:defRPr sz="1300">
                <a:solidFill>
                  <a:srgbClr val="6B7280"/>
                </a:solidFill>
                <a:latin typeface="Meiryo"/>
              </a:defRPr>
            </a:pPr>
            <a:r>
              <a:t>レビュー・リリース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Meiryo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411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eiryo"/>
              </a:defRPr>
            </a:pPr>
            <a:r>
              <a:t>報酬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0972800" cy="27432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2286000"/>
            <a:ext cx="5760720" cy="2743200"/>
          </a:xfrm>
          <a:prstGeom prst="round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560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B21B6"/>
                </a:solidFill>
                <a:latin typeface="Meiryo"/>
              </a:defRPr>
            </a:pPr>
            <a:r>
              <a:t>報酬体系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108960"/>
            <a:ext cx="45720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3832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eiryo"/>
              </a:defRPr>
            </a:pPr>
            <a:r>
              <a:t>初月: 月額 10,000円 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1148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B7280"/>
                </a:solidFill>
                <a:latin typeface="Meiryo"/>
              </a:defRPr>
            </a:pPr>
            <a:r>
              <a:t>※ スキルの向上・貢献度に応じて見直し予定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eiryo"/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eiryo"/>
              </a:defRPr>
            </a:pPr>
            <a:r>
              <a:t>✓  EdBrioは教育プラットフォーム — カリキュラムはその中の重要な機能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eiryo"/>
              </a:defRPr>
            </a:pPr>
            <a:r>
              <a:t>✓  カリキュラムシステムは講師が生徒ごとに管理する独立した機能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eiryo"/>
              </a:defRPr>
            </a:pPr>
            <a:r>
              <a:t>✓  Next.js + Supabase + Vercel の構成で開発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5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eiryo"/>
              </a:defRPr>
            </a:pPr>
            <a:r>
              <a:t>✓  基本的なCRUD機能は実装済み — UI改善と新機能追加が必要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eiryo"/>
              </a:defRPr>
            </a:pPr>
            <a:r>
              <a:t>✓  GW期間中に集中開発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"/>
              </a:defRPr>
            </a:pPr>
            <a:r>
              <a:t>一緒に良いプロダクトを作りましょう！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